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 in one sentence. Keep intro under 30 seconds -- move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what question are we answering, and why does it matter operationally. This is not a generic download-data-train-model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 8 clause types: Termination for Convenience, Governing Law, Audit Rights, Change of Control, Cap on Liability, License Grant, Non-Compete, Warranty Duration. Prevalence ranges 31%-87%. Long tail of contract lengths forces chunking.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 Emphasize the imbalance problem (1:61) and why undersampling only touches training data, never test data. Both approaches share the same fine-tuned model -- only chunk selection differs.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backbone model for both approaches -- the only difference is which chunks reach the model at inference time. AUPR = area under the precision-recall curve, the metric CUAD's own paper uses; EM = exact match, standard for extractive 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B wins on 8/8 clauses. Biggest gains on the hardest, lowest-prevalence clauses -- Change of Control and Non-Compete -- exactly where exhaustive scanning produces the most false positives.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test_contract() live if time allows. Governing Law clauses are short and formulaic (highest EM); contrast with Non-Compete which is longer and more narrative.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95 false negatives vs 47 false positives -- system currently under-flags, which is the wrong direction for risk review. Root cause is lexical retrieval mismatch, not the classifier itself. The 3-epoch model is more precise than the 2-epoch version (fewer false positives) at a small recall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core finding in one sentence and inviting Q&amp;A. Be ready to justify: why TF-IDF over a learned retriever, why undersampling ratio 3:1, why only 3 epochs.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85800"/>
            <a:ext cx="822960" cy="82296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899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PRESENTATION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Clause Extraction for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Risk Review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sliding-window and TF-IDF retrieval with fine-tuned Legal-BERT on the CUAD dataset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4617720"/>
            <a:ext cx="777240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800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Gowda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[TBD]   |   Course: Machine Learning   |  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contract review is slow and error-prone at scale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2018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745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exceed the transformer's context window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3134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CUAD contract length is 6,318 words (max 45,650), but a transformer like BERT can only process 512 tokens at once -- so every document must be chunked.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264408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58444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" y="3774643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44728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search for a small set of recurring clauses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920240" y="38862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Termination Rights, Governing Law, Audit Rights, Cap on Liability -- 8 of CUAD's 41 labeled clause types.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837176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157216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5347411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502005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makes false negatives costly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54589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(false negative) clause is far more costly than a false positive a reviewer can quickly dismiss -- so recall matters more than raw accuracy.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CUAD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Understanding Atticus Dataset -- 510 expert-annotated commercial contracts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408 / 102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contracts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6616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types (8 selected)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examples exceed 512 tokens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61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4400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: negative chunk ratio</a:t>
            </a:r>
            <a:endParaRPr lang="en-US" sz="1150" dirty="0"/>
          </a:p>
        </p:txBody>
      </p:sp>
      <p:pic>
        <p:nvPicPr>
          <p:cNvPr id="16" name="Image 0" descr="contract_length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3246120"/>
            <a:ext cx="5486400" cy="3063240"/>
          </a:xfrm>
          <a:prstGeom prst="rect">
            <a:avLst/>
          </a:prstGeom>
        </p:spPr>
      </p:pic>
      <p:pic>
        <p:nvPicPr>
          <p:cNvPr id="17" name="Image 1" descr="clause_bal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3246120"/>
            <a:ext cx="521208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contracts to a balanced classification + span-extraction task</a:t>
            </a:r>
            <a:endParaRPr lang="en-US" sz="1500" dirty="0"/>
          </a:p>
        </p:txBody>
      </p:sp>
      <p:pic>
        <p:nvPicPr>
          <p:cNvPr id="4" name="Image 0" descr="methodology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10881360" cy="36887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471797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41B4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471797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ratio 1:61 (positive:negative chunks) -- undersampling brings training to 3:1, the test set is left untouched. </a:t>
            </a:r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fine-tuned Legal-BERT feeds both inference strategies -- only the chunk-selection method differs.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Evaluation Criteria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F4F7F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-- Sliding Window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512-token chunk is scored by the model (exhaustive scan)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coverage, higher inference cost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 for comparison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4069080"/>
            <a:ext cx="4754880" cy="0"/>
          </a:xfrm>
          <a:prstGeom prst="line">
            <a:avLst/>
          </a:prstGeom>
          <a:noFill/>
          <a:ln w="12700">
            <a:solidFill>
              <a:srgbClr val="D9E0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model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nlpaueb/legal-bert-base-uncased -- BERT pretrained on legal text. Fine-tuned with a dual head: binary classifier + QA span extractor, 3 epochs, lr 2e-5, batch 8, seed 42.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6446520" y="1645920"/>
            <a:ext cx="640080" cy="64008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18123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-- TF-IDF Retrieval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2468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ranks each contract's chunks against the clause query (a keyword-based relevance score)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top-5 chunks reach the transformer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inference; tests a retrieval hypothesis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46520" y="4069080"/>
            <a:ext cx="475488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46520" y="45262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F1 and AUPR (area under precision-recall curve -- the main CUAD metric). Span extraction: Token F1 and Exact Match (EM). Same held-out test contracts for both approaches.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Approach B Wins Every Clause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F1 by clause -- Approach A (sliding window) vs. Approach B (TF-IDF top-5)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61264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Clause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Approach A (F1)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Approach B (F1)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Termination f. Conv.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0.557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0.771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Governing Law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0.842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0.855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Audit Rights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0.602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0.689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Change of Control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0.400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0.667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Cap on Liability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0.543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0.800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License Grant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0.500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0.709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Non-Compete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0.418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0.578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Warranty Duration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0.390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0.571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Mean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178"/>
                          </a:solidFill>
                        </a:rPr>
                        <a:t>0.531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34"/>
                          </a:solidFill>
                        </a:rPr>
                        <a:t>0.705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50876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040880" y="15727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+0.174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040880" y="2084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 gain, mean AUPR 0.596 -&gt; 0.790</a:t>
            </a:r>
            <a:endParaRPr lang="en-US" sz="1150" dirty="0"/>
          </a:p>
        </p:txBody>
      </p:sp>
      <p:pic>
        <p:nvPicPr>
          <p:cNvPr id="8" name="Image 0" descr="approach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2651760"/>
            <a:ext cx="44805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 Extraction &amp; 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"is the clause there" -- exactly which sentence(s) constitute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4F7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600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4F7FE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691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0604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(EM)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4F7FE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691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test contracts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5623560" cy="3246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291840"/>
            <a:ext cx="594360" cy="59436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3446374"/>
            <a:ext cx="285293" cy="28529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91640" y="3310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contract: Governing Law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14400" y="39776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will be governed by the law of the People's Republic of China, otherwise it is governed by United Nations Convention on Contract for the International Sale of Goods."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53492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0.997 (both approaches)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scored 7 chunks, Approach B only 5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spans match verbatim</a:t>
            </a:r>
            <a:endParaRPr lang="en-US" sz="1150" dirty="0"/>
          </a:p>
        </p:txBody>
      </p:sp>
      <p:pic>
        <p:nvPicPr>
          <p:cNvPr id="19" name="Image 1" descr="training_curv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017520"/>
            <a:ext cx="502920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B, full 816-row test set -- where does the model still fail?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D5F0D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73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(correctly said no clause)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D5F0DD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673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20440" y="2194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(correctly found clause)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BE4E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73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2194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a real clause)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068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BE4E2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673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8280" y="2194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(flagged by mistake)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4F7FE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3375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3492094"/>
            <a:ext cx="285293" cy="28529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91640" y="33649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dominate -- and that's costly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914400" y="40233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 misses clauses phrased with non-overlapping vocabulary (e.g. "inspection" vs. "audit") -- a lexical, not semantic, matching limitation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split across a chunk boundary have no single 512-token window containing the full answer</a:t>
            </a:r>
            <a:endParaRPr lang="en-US" sz="1200" dirty="0"/>
          </a:p>
        </p:txBody>
      </p:sp>
      <p:pic>
        <p:nvPicPr>
          <p:cNvPr id="21" name="Image 1" descr="error_analysi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3063240"/>
            <a:ext cx="53492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594360" cy="59436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18004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per-clause test counts (10-83 positives) -- metrics carry variance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fine-tuning epochs; train/test F1 gap (0.94 vs 0.57) still suggests some overfitting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is lexical, not semantic -- the identified bottleneck behind most misses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of CUAD's 41 clause types studied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3D8BFD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645920"/>
            <a:ext cx="594360" cy="594360"/>
          </a:xfrm>
          <a:prstGeom prst="ellipse">
            <a:avLst/>
          </a:prstGeom>
          <a:solidFill>
            <a:srgbClr val="141B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054" y="18004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46520" y="2331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Retrieval-based chunk filtering beats exhaustive scanning on every clause tested -- without changing the underlying model.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342900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F1: 0.531 -&gt; 0.705  |  Mean AUPR: 0.596 -&gt; 0.790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comes from smarter candidate selection, not a stronger classifier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for deploying long-document extraction under compute limits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Clause Extraction for Operational Risk Review</dc:title>
  <dc:subject>PptxGenJS Presentation</dc:subject>
  <dc:creator>Abhishek Gowda</dc:creator>
  <cp:lastModifiedBy>Abhishek Gowda</cp:lastModifiedBy>
  <cp:revision>1</cp:revision>
  <dcterms:created xsi:type="dcterms:W3CDTF">2026-07-09T13:02:24Z</dcterms:created>
  <dcterms:modified xsi:type="dcterms:W3CDTF">2026-07-09T13:02:24Z</dcterms:modified>
</cp:coreProperties>
</file>